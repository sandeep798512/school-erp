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914400"/>
            <a:ext cx="10728655" cy="5029200"/>
          </a:xfrm>
          <a:prstGeom prst="roundRect">
            <a:avLst/>
          </a:prstGeom>
          <a:solidFill>
            <a:srgbClr val="131A2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548640"/>
          <a:lstStyle/>
          <a:p>
            <a:pPr algn="ctr">
              <a:spcAft>
                <a:spcPts val="1200"/>
              </a:spcAft>
              <a:defRPr sz="1200" b="1">
                <a:solidFill>
                  <a:srgbClr val="06B6D4"/>
                </a:solidFill>
              </a:defRPr>
            </a:pPr>
            <a:r>
              <a:t>CAMPUSGET ENTERPRISE PRESENTATION</a:t>
            </a:r>
          </a:p>
          <a:p>
            <a:pPr>
              <a:spcAft>
                <a:spcPts val="1600"/>
              </a:spcAft>
              <a:defRPr sz="3800" b="1">
                <a:solidFill>
                  <a:srgbClr val="FFFFFF"/>
                </a:solidFill>
              </a:defRPr>
            </a:pPr>
            <a:r>
              <a:t>Enterprise School ERP &amp;</a:t>
            </a:r>
            <a:br/>
            <a:r>
              <a:t>Modern Public Website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A Complete Multi-Tenant Platform for Institutional Operations, Admissions, Fee Accounting, and Student Engagement.</a:t>
            </a:r>
          </a:p>
          <a:p>
            <a:pPr>
              <a:defRPr sz="1300">
                <a:solidFill>
                  <a:srgbClr val="A5B4FC"/>
                </a:solidFill>
              </a:defRPr>
            </a:pPr>
            <a:r>
              <a:t>🚀 Live Demo: https://stxaviers-school-erp-bycampusget.netlify.app</a:t>
            </a:r>
            <a:br/>
            <a:r>
              <a:t>💻 Tech Stack: React 18 • TypeScript • Node.js • Express • PostgreSQL 16 • Redis • Docker</a:t>
            </a:r>
            <a:br/>
            <a:r>
              <a:t>👤 Author: Sandeep Gaud | CampusGet Verified Package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20040"/>
          </a:xfrm>
          <a:prstGeom prst="roundRect">
            <a:avLst/>
          </a:prstGeom>
          <a:solidFill>
            <a:srgbClr val="1E3A8A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Challenge vs. The Enterprise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Transforming fragmented manual processes into an integrated, paperless school management ecosystem.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4297680"/>
          </a:xfrm>
          <a:prstGeom prst="roundRect">
            <a:avLst/>
          </a:prstGeom>
          <a:solidFill>
            <a:srgbClr val="131A2B"/>
          </a:solidFill>
          <a:ln w="19050">
            <a:solidFill>
              <a:srgbClr val="2633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EF4444"/>
                </a:solidFill>
              </a:defRPr>
            </a:pPr>
            <a:r>
              <a:t>[PAIN POINTS] Traditional School Challenges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Paper attendance registers prone to loss and manual calculation errors.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Un-reconciled fee collections, delayed receipt generation, and payment leakages.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Disconnected communications across notice boards, SMS, and scattered emails.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Manual exam marks tabulation leading to delayed report card generation.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Lacks transparent parent engagement and real-time ward monitoring.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011680"/>
            <a:ext cx="5212080" cy="4297680"/>
          </a:xfrm>
          <a:prstGeom prst="roundRect">
            <a:avLst/>
          </a:prstGeom>
          <a:solidFill>
            <a:srgbClr val="131A2B"/>
          </a:solidFill>
          <a:ln w="19050">
            <a:solidFill>
              <a:srgbClr val="2633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[THE SOLUTION] The Enterprise ERP Platform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Unified Cloud Monorepo connecting Administration, Teachers, Students &amp; Parents.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Automated Double-Entry Fee Ledger with quarterly/annual transparent calculators.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1-Click Section Attendance with instant daily summaries and leave tracking.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Automated Examination Engine with grading scales and weighted report cards.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Modern SEO-Ready Public Website with online admissions enquiry capture.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20040"/>
          </a:xfrm>
          <a:prstGeom prst="roundRect">
            <a:avLst/>
          </a:prstGeom>
          <a:solidFill>
            <a:srgbClr val="1E3A8A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FRONTEND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High-Conversion Public Website &amp; Modern 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Designed to deliver a world-class institutional image and maximize student admissions.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383280" cy="4297680"/>
          </a:xfrm>
          <a:prstGeom prst="roundRect">
            <a:avLst/>
          </a:prstGeom>
          <a:solidFill>
            <a:srgbClr val="131A2B"/>
          </a:solidFill>
          <a:ln w="19050">
            <a:solidFill>
              <a:srgbClr val="2633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06B6D4"/>
                </a:solidFill>
              </a:defRPr>
            </a:pPr>
            <a:r>
              <a:t>[WEBSITE CMS] Institutional Branding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Modern Hero Section with animated typography and dynamic call-to-actions.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Principal's Welcome Desk showcasing institutional vision and accreditation.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Academics Program Wings from Primary to Senior Secondary Specializations.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Interactive Campus Infrastructure photo gallery and event highlights.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011680"/>
            <a:ext cx="3383280" cy="4297680"/>
          </a:xfrm>
          <a:prstGeom prst="roundRect">
            <a:avLst/>
          </a:prstGeom>
          <a:solidFill>
            <a:srgbClr val="131A2B"/>
          </a:solidFill>
          <a:ln w="19050">
            <a:solidFill>
              <a:srgbClr val="2633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F59E0B"/>
                </a:solidFill>
              </a:defRPr>
            </a:pPr>
            <a:r>
              <a:t>[THEME ENGINE] Day &amp; Night Mode Engine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Fully functional Light (Day) and Dark (Night) mode switch.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Smooth 180° animated icon toggle with sun/moon transitions.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Persistent user preference preserved across browser sessions via localStorage.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High-contrast custom educational color palette tailored for accessibility.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011680"/>
            <a:ext cx="3383280" cy="4297680"/>
          </a:xfrm>
          <a:prstGeom prst="roundRect">
            <a:avLst/>
          </a:prstGeom>
          <a:solidFill>
            <a:srgbClr val="131A2B"/>
          </a:solidFill>
          <a:ln w="19050">
            <a:solidFill>
              <a:srgbClr val="2633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[ENGAGEMENT] Lead &amp; Admissions Capture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Direct Admissions Enquiry form with real-time field validation.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Visitor contact routing and campus tour booking mechanisms.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SEO-optimized semantic markup with high Lighthouse performance score.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Fully responsive layout optimized for smartphones, tablets, and laptops.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20040"/>
          </a:xfrm>
          <a:prstGeom prst="roundRect">
            <a:avLst/>
          </a:prstGeom>
          <a:solidFill>
            <a:srgbClr val="1E3A8A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FINANCIAL TRANSPARENCY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Public Fee Structure &amp; Financial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Eliminating parent hesitation with 100% upfront pricing and institutional aid policies.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4297680"/>
          </a:xfrm>
          <a:prstGeom prst="roundRect">
            <a:avLst/>
          </a:prstGeom>
          <a:solidFill>
            <a:srgbClr val="131A2B"/>
          </a:solidFill>
          <a:ln w="19050">
            <a:solidFill>
              <a:srgbClr val="2633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06B6D4"/>
                </a:solidFill>
              </a:defRPr>
            </a:pPr>
            <a:r>
              <a:t>[PARENT TRANSPARENCY] Public Fee Calculator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Annual vs. Quarterly Payment installment toggle.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Grade Wing Breakdown: Primary, Middle, Secondary, Senior Secondary.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Transparent itemization of tuition fees, activity kits, and admission charges.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Inclusive amenities checklist (Robotics labs, digital vault, sports coaching).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Institutional Scholarships: Merit waivers (50%), Sibling concessions (15%), and Sports quotas (40%).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011680"/>
            <a:ext cx="5212080" cy="4297680"/>
          </a:xfrm>
          <a:prstGeom prst="roundRect">
            <a:avLst/>
          </a:prstGeom>
          <a:solidFill>
            <a:srgbClr val="131A2B"/>
          </a:solidFill>
          <a:ln w="19050">
            <a:solidFill>
              <a:srgbClr val="2633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A855F7"/>
                </a:solidFill>
              </a:defRPr>
            </a:pPr>
            <a:r>
              <a:t>[ACCOUNTING ENGINE] ERP Finance Engine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Double-Entry Accounting principles ensuring ledger integrity.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Bulk Invoicing Engine generating term-wise billings automatically.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Idempotent Payment Collection protected via Idempotency-Key headers.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Instant digital receipt generation and transaction audit trails.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Complete payment mode support: UPI, Netbanking, Cards, and Zero-Cost EMI.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20040"/>
          </a:xfrm>
          <a:prstGeom prst="roundRect">
            <a:avLst/>
          </a:prstGeom>
          <a:solidFill>
            <a:srgbClr val="1E3A8A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CORE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Academic Operations &amp; Examination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Streamlining daily classroom workflows, attendance recording, and grade evaluations.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383280" cy="4297680"/>
          </a:xfrm>
          <a:prstGeom prst="roundRect">
            <a:avLst/>
          </a:prstGeom>
          <a:solidFill>
            <a:srgbClr val="131A2B"/>
          </a:solidFill>
          <a:ln w="19050">
            <a:solidFill>
              <a:srgbClr val="2633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[ATTENDANCE] Attendance Management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Section-wise bulk attendance recording (Present, Absent, Late, Half-Day).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Automated student attendance percentage calculations.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Real-time notifications sent to guardians for absent wards.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Formal leave application submission and teacher approval workflow.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011680"/>
            <a:ext cx="3383280" cy="4297680"/>
          </a:xfrm>
          <a:prstGeom prst="roundRect">
            <a:avLst/>
          </a:prstGeom>
          <a:solidFill>
            <a:srgbClr val="131A2B"/>
          </a:solidFill>
          <a:ln w="19050">
            <a:solidFill>
              <a:srgbClr val="2633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3B82F6"/>
                </a:solidFill>
              </a:defRPr>
            </a:pPr>
            <a:r>
              <a:t>[EVALUATIONS] Exams &amp; Report Cards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Term exam scheduling with subject and classroom allocations.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Grid marks entry interface allowing rapid bulk score input.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Automated grade scale mapping (A+, A, B, C) and weighted GPA calculation.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One-click compiled printable student report cards with teacher remarks.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011680"/>
            <a:ext cx="3383280" cy="4297680"/>
          </a:xfrm>
          <a:prstGeom prst="roundRect">
            <a:avLst/>
          </a:prstGeom>
          <a:solidFill>
            <a:srgbClr val="131A2B"/>
          </a:solidFill>
          <a:ln w="19050">
            <a:solidFill>
              <a:srgbClr val="2633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A855F7"/>
                </a:solidFill>
              </a:defRPr>
            </a:pPr>
            <a:r>
              <a:t>[CLASSROOM] Timetable &amp; Homework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Slot allocation engine with built-in conflict detection preventing double-booking.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Teacher weekly workload summary and room utilization metrics.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Digital homework assignment creation with due-date enforcement.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Student submission upload handler with teacher grading grid.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20040"/>
          </a:xfrm>
          <a:prstGeom prst="roundRect">
            <a:avLst/>
          </a:prstGeom>
          <a:solidFill>
            <a:srgbClr val="1E3A8A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SECURITY &amp;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Role-Based Access Control (RBAC) &amp; Portals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Personalized dashboards and strict permission enforcement for all 8 institutional roles.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383280" cy="2103120"/>
          </a:xfrm>
          <a:prstGeom prst="roundRect">
            <a:avLst/>
          </a:prstGeom>
          <a:solidFill>
            <a:srgbClr val="131A2B"/>
          </a:solidFill>
          <a:ln w="19050">
            <a:solidFill>
              <a:srgbClr val="2633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3B82F6"/>
                </a:solidFill>
              </a:defRPr>
            </a:pPr>
            <a:r>
              <a:t>[SUPER ADMIN] School Administrator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Master system configuration &amp; multi-school scope.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Academic year setup, staff directory &amp; admission ledger.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Audit log inspection and institutional analytics.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011680"/>
            <a:ext cx="3383280" cy="2103120"/>
          </a:xfrm>
          <a:prstGeom prst="roundRect">
            <a:avLst/>
          </a:prstGeom>
          <a:solidFill>
            <a:srgbClr val="131A2B"/>
          </a:solidFill>
          <a:ln w="19050">
            <a:solidFill>
              <a:srgbClr val="2633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[FACULTY] Teacher Portal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Assigned classes overview &amp; weekly schedule grid.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Rapid student attendance entry and roster view.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Homework assignment dispatcher &amp; exam marks input.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011680"/>
            <a:ext cx="3383280" cy="2103120"/>
          </a:xfrm>
          <a:prstGeom prst="roundRect">
            <a:avLst/>
          </a:prstGeom>
          <a:solidFill>
            <a:srgbClr val="131A2B"/>
          </a:solidFill>
          <a:ln w="19050">
            <a:solidFill>
              <a:srgbClr val="2633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F59E0B"/>
                </a:solidFill>
              </a:defRPr>
            </a:pPr>
            <a:r>
              <a:t>[GUARDIANS] Parent Console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Multi-child ward switcher for seamless monitoring.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Real-time attendance rates, leave requests &amp; fee dues.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Direct exam report card downloads &amp; school notices.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297680"/>
            <a:ext cx="3383280" cy="2103120"/>
          </a:xfrm>
          <a:prstGeom prst="roundRect">
            <a:avLst/>
          </a:prstGeom>
          <a:solidFill>
            <a:srgbClr val="131A2B"/>
          </a:solidFill>
          <a:ln w="19050">
            <a:solidFill>
              <a:srgbClr val="2633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06B6D4"/>
                </a:solidFill>
              </a:defRPr>
            </a:pPr>
            <a:r>
              <a:t>[STUDENTS] Student Self-Service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Personal weekly class schedule &amp; upcoming exams.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Homework assignment downloads and submissions.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Historical report cards and activity notice board.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4297680"/>
            <a:ext cx="3383280" cy="2103120"/>
          </a:xfrm>
          <a:prstGeom prst="roundRect">
            <a:avLst/>
          </a:prstGeom>
          <a:solidFill>
            <a:srgbClr val="131A2B"/>
          </a:solidFill>
          <a:ln w="19050">
            <a:solidFill>
              <a:srgbClr val="2633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A855F7"/>
                </a:solidFill>
              </a:defRPr>
            </a:pPr>
            <a:r>
              <a:t>[FINANCE] Accountant &amp; Finance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Fee structure configuration &amp; student invoices.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Point-of-sale fee collection &amp; instant receipts.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Audit refund records &amp; daily revenue reconciliations.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4297680"/>
            <a:ext cx="3383280" cy="2103120"/>
          </a:xfrm>
          <a:prstGeom prst="roundRect">
            <a:avLst/>
          </a:prstGeom>
          <a:solidFill>
            <a:srgbClr val="131A2B"/>
          </a:solidFill>
          <a:ln w="19050">
            <a:solidFill>
              <a:srgbClr val="2633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F43F5E"/>
                </a:solidFill>
              </a:defRPr>
            </a:pPr>
            <a:r>
              <a:t>[DEMO ENGINE] Instant Demo Fallback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Built-in offline client simulation for testing.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1-Click role preview without database setup.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Seamlessly activates live PostgreSQL when online.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20040"/>
          </a:xfrm>
          <a:prstGeom prst="roundRect">
            <a:avLst/>
          </a:prstGeom>
          <a:solidFill>
            <a:srgbClr val="1E3A8A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COMPREHENSIVE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Advanced Specialized School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Beyond core academics: Complete facility and administrative lifecycle management.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2514600" cy="4297680"/>
          </a:xfrm>
          <a:prstGeom prst="roundRect">
            <a:avLst/>
          </a:prstGeom>
          <a:solidFill>
            <a:srgbClr val="131A2B"/>
          </a:solidFill>
          <a:ln w="19050">
            <a:solidFill>
              <a:srgbClr val="2633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06B6D4"/>
                </a:solidFill>
              </a:defRPr>
            </a:pPr>
            <a:r>
              <a:t>[LIBRARY] Library System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Catalog search by title, author, and ISBN.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Transactional book issue and return tracking.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Real-time available copies monitor.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Automated overdue fine computation.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Student borrow history records.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2011680"/>
            <a:ext cx="2514600" cy="4297680"/>
          </a:xfrm>
          <a:prstGeom prst="roundRect">
            <a:avLst/>
          </a:prstGeom>
          <a:solidFill>
            <a:srgbClr val="131A2B"/>
          </a:solidFill>
          <a:ln w="19050">
            <a:solidFill>
              <a:srgbClr val="2633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F59E0B"/>
                </a:solidFill>
              </a:defRPr>
            </a:pPr>
            <a:r>
              <a:t>[LOGISTICS] Transport Fleet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Vehicle fleet registration and compliance.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Driver assignment &amp; route fare structures.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Bus stop allocation with pickup timings.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Vehicle seating capacity enforcement.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Student commute safety rosters.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011680"/>
            <a:ext cx="2514600" cy="4297680"/>
          </a:xfrm>
          <a:prstGeom prst="roundRect">
            <a:avLst/>
          </a:prstGeom>
          <a:solidFill>
            <a:srgbClr val="131A2B"/>
          </a:solidFill>
          <a:ln w="19050">
            <a:solidFill>
              <a:srgbClr val="2633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[PAYROLL] HR &amp; Payroll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Employee directory and contracts.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Salary components: Basic, HRA, Allowances.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Statutory tax and provident deductions.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1-Click monthly bulk payroll runs.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Downloadable digital payslips.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2011680"/>
            <a:ext cx="2560320" cy="4297680"/>
          </a:xfrm>
          <a:prstGeom prst="roundRect">
            <a:avLst/>
          </a:prstGeom>
          <a:solidFill>
            <a:srgbClr val="131A2B"/>
          </a:solidFill>
          <a:ln w="19050">
            <a:solidFill>
              <a:srgbClr val="2633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A855F7"/>
                </a:solidFill>
              </a:defRPr>
            </a:pPr>
            <a:r>
              <a:t>[CERTIFICATES] Certificates &amp; Stock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Dynamic Certificate Generator (TC, Bonafide).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Token interpolation: {{name}}, {{admissionNo}}.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Inventory tracking with SKU movements.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Supplier directory and purchase orders.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Immutable security audit logs.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20040"/>
          </a:xfrm>
          <a:prstGeom prst="roundRect">
            <a:avLst/>
          </a:prstGeom>
          <a:solidFill>
            <a:srgbClr val="1E3A8A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ENGINEERING EXCELLENCE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System Architecture &amp; Production 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Built with modern, scalable, enterprise-grade technologies for maximum reliability.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4297680"/>
          </a:xfrm>
          <a:prstGeom prst="roundRect">
            <a:avLst/>
          </a:prstGeom>
          <a:solidFill>
            <a:srgbClr val="131A2B"/>
          </a:solidFill>
          <a:ln w="19050">
            <a:solidFill>
              <a:srgbClr val="2633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3B82F6"/>
                </a:solidFill>
              </a:defRPr>
            </a:pPr>
            <a:r>
              <a:t>[ENTERPRISE CORE] Architecture &amp; Security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Clean Monorepo: apps/web, apps/api, packages/shared.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Discriminator-Column Multi-Tenancy (organizationId, schoolId).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Stateless JWT Access Tokens (15m) + HttpOnly Refresh Tokens (7d).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Redis Session Whitelist supporting instant session revocation.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Database Indexing optimized for sub-millisecond query execution.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Strict Zod schema validation on all API boundaries.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Audit Logging: captures user, IP, action, and state changes.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011680"/>
            <a:ext cx="5212080" cy="4297680"/>
          </a:xfrm>
          <a:prstGeom prst="roundRect">
            <a:avLst/>
          </a:prstGeom>
          <a:solidFill>
            <a:srgbClr val="131A2B"/>
          </a:solidFill>
          <a:ln w="19050">
            <a:solidFill>
              <a:srgbClr val="2633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[TECH SPECIFICATIONS] Production Technology Stack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Frontend: React 18, Vite, TypeScript, Tailwind CSS, Lucide.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Backend: Node.js, Express, TypeScript, Prisma ORM.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Database: PostgreSQL 16 with relational integrity.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Cache: Redis 7 for high-performance session validation.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Containerization: Docker &amp; docker-compose.prod.yml.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Frontend CDN: Netlify-ready with 1-click CI/CD deployment.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Performance: k6 tested for 200+ concurrent virtual users.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20040"/>
          </a:xfrm>
          <a:prstGeom prst="roundRect">
            <a:avLst/>
          </a:prstGeom>
          <a:solidFill>
            <a:srgbClr val="1E3A8A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COMMERCIAL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Institutional Impact &amp; Return on Investment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Tangible operational savings and heightened reputation for educational institutions.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383280" cy="4297680"/>
          </a:xfrm>
          <a:prstGeom prst="roundRect">
            <a:avLst/>
          </a:prstGeom>
          <a:solidFill>
            <a:srgbClr val="131A2B"/>
          </a:solidFill>
          <a:ln w="19050">
            <a:solidFill>
              <a:srgbClr val="2633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[EFFICIENCY] 85% Paper Reduction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Replaces physical attendance registers with instant digital recording.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Automated electronic report cards eliminate printing costs.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Online admission enquiry pipeline replaces physical paperwork.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Digital receipts and fee ledgers reduce billing stationery.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011680"/>
            <a:ext cx="3383280" cy="4297680"/>
          </a:xfrm>
          <a:prstGeom prst="roundRect">
            <a:avLst/>
          </a:prstGeom>
          <a:solidFill>
            <a:srgbClr val="131A2B"/>
          </a:solidFill>
          <a:ln w="19050">
            <a:solidFill>
              <a:srgbClr val="2633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06B6D4"/>
                </a:solidFill>
              </a:defRPr>
            </a:pPr>
            <a:r>
              <a:t>[REVENUE] Zero Fee Leakage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Double-entry ledger rules ensure every rupee is accounted for.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Real-time outstanding dues alert system for accountant follow-ups.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Transparent fee structure builds parent trust and timely collections.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Audit trails prevent unauthorized fee modifications.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011680"/>
            <a:ext cx="3383280" cy="4297680"/>
          </a:xfrm>
          <a:prstGeom prst="roundRect">
            <a:avLst/>
          </a:prstGeom>
          <a:solidFill>
            <a:srgbClr val="131A2B"/>
          </a:solidFill>
          <a:ln w="19050">
            <a:solidFill>
              <a:srgbClr val="2633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A855F7"/>
                </a:solidFill>
              </a:defRPr>
            </a:pPr>
            <a:r>
              <a:t>[SATISFACTION] Parent Satisfaction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Parents access real-time attendance, fee receipts, and report cards.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Instant school announcements and emergency event notifications.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Seamless multi-child management under one unified login.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Enhances school prestige with a modern digital ecosystem.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914400"/>
            <a:ext cx="10728655" cy="5029200"/>
          </a:xfrm>
          <a:prstGeom prst="roundRect">
            <a:avLst/>
          </a:prstGeom>
          <a:solidFill>
            <a:srgbClr val="131A2B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731520"/>
          <a:lstStyle/>
          <a:p>
            <a:pPr algn="ctr">
              <a:spcAft>
                <a:spcPts val="1400"/>
              </a:spcAft>
              <a:defRPr sz="1300" b="1">
                <a:solidFill>
                  <a:srgbClr val="06B6D4"/>
                </a:solidFill>
              </a:defRPr>
            </a:pPr>
            <a:r>
              <a:t>VERIFIED PRODUCTION PACKAGE</a:t>
            </a:r>
          </a:p>
          <a:p>
            <a:pPr>
              <a:spcAft>
                <a:spcPts val="2000"/>
              </a:spcAft>
              <a:defRPr sz="3600" b="1">
                <a:solidFill>
                  <a:srgbClr val="FFFFFF"/>
                </a:solidFill>
              </a:defRPr>
            </a:pPr>
            <a:r>
              <a:t>Ready for Institutional Deployment</a:t>
            </a:r>
            <a:br/>
            <a:r>
              <a:t>&amp; Client Demonstrations</a:t>
            </a:r>
          </a:p>
          <a:p>
            <a:pPr>
              <a:spcAft>
                <a:spcPts val="1000"/>
              </a:spcAft>
              <a:defRPr sz="1600" b="1">
                <a:solidFill>
                  <a:srgbClr val="3B82F6"/>
                </a:solidFill>
              </a:defRPr>
            </a:pPr>
            <a:r>
              <a:t>🔗 Live Working Application: https://stxaviers-school-erp-bycampusget.netlify.app</a:t>
            </a:r>
          </a:p>
          <a:p>
            <a:pPr>
              <a:spcAft>
                <a:spcPts val="2400"/>
              </a:spcAft>
              <a:defRPr sz="1500">
                <a:solidFill>
                  <a:srgbClr val="94A3B8"/>
                </a:solidFill>
              </a:defRPr>
            </a:pPr>
            <a:r>
              <a:t>📁 Verified GitHub Source: https://github.com/Sandeep798512/school-erp</a:t>
            </a:r>
          </a:p>
          <a:p>
            <a:pPr>
              <a:defRPr sz="1400" b="1">
                <a:solidFill>
                  <a:srgbClr val="10B981"/>
                </a:solidFill>
              </a:defRPr>
            </a:pPr>
            <a:r>
              <a:t>Thank You! • Questions &amp; Discussion Welcome • Powered by CampusGet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